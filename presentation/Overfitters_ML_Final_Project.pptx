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6" y="713232"/>
            <a:ext cx="141733" cy="4956048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731520"/>
            <a:ext cx="5852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B097"/>
                </a:solidFill>
                <a:latin typeface="Aptos"/>
              </a:defRPr>
            </a:pPr>
            <a:r>
              <a:t>FINAL PROJECT  /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6335486" cy="11346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Predicting property prices</a:t>
            </a:r>
          </a:p>
          <a:p>
            <a:pPr algn="l">
              <a:spcAft>
                <a:spcPts val="400"/>
              </a:spcAft>
              <a:defRPr sz="34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in </a:t>
            </a:r>
            <a:r>
              <a:rPr dirty="0" smtClean="0"/>
              <a:t>Azerbaijan</a:t>
            </a:r>
            <a:r>
              <a:rPr lang="en-US" dirty="0" smtClean="0"/>
              <a:t>-</a:t>
            </a:r>
            <a:r>
              <a:rPr lang="en-US" dirty="0" err="1" smtClean="0"/>
              <a:t>Overfitters</a:t>
            </a:r>
            <a:r>
              <a:rPr lang="en-US" dirty="0" smtClean="0"/>
              <a:t> Team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1832" y="2761488"/>
            <a:ext cx="56692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900" b="0" i="0">
                <a:solidFill>
                  <a:srgbClr val="E0E4E4"/>
                </a:solidFill>
                <a:latin typeface="Aptos"/>
              </a:defRPr>
            </a:pPr>
            <a:r>
              <a:rPr dirty="0"/>
              <a:t>From-scratch decision trees and </a:t>
            </a:r>
            <a:r>
              <a:rPr dirty="0" err="1"/>
              <a:t>Pegasos</a:t>
            </a:r>
            <a:r>
              <a:rPr dirty="0"/>
              <a:t> SVM</a:t>
            </a:r>
          </a:p>
          <a:p>
            <a:pPr algn="l">
              <a:spcAft>
                <a:spcPts val="400"/>
              </a:spcAft>
              <a:defRPr sz="1900" b="0" i="0">
                <a:solidFill>
                  <a:srgbClr val="E0E4E4"/>
                </a:solidFill>
                <a:latin typeface="Aptos"/>
              </a:defRPr>
            </a:pPr>
            <a:r>
              <a:rPr dirty="0"/>
              <a:t>on bina.az listings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3794760"/>
            <a:ext cx="41148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>
                <a:solidFill>
                  <a:schemeClr val="bg1"/>
                </a:solidFill>
              </a:rPr>
              <a:t>TASK A  /  LOG-PRICE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133087"/>
            <a:ext cx="45720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TASK B  /  PRICE-TIER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18888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27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010912"/>
            <a:ext cx="507492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93,150 cleaned listings   |   28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6080760"/>
            <a:ext cx="649224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 err="1">
                <a:solidFill>
                  <a:schemeClr val="bg1"/>
                </a:solidFill>
              </a:rPr>
              <a:t>Teymur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Alasgarov</a:t>
            </a:r>
            <a:r>
              <a:rPr dirty="0">
                <a:solidFill>
                  <a:schemeClr val="bg1"/>
                </a:solidFill>
              </a:rPr>
              <a:t>  |  </a:t>
            </a:r>
            <a:r>
              <a:rPr dirty="0" err="1">
                <a:solidFill>
                  <a:schemeClr val="bg1"/>
                </a:solidFill>
              </a:rPr>
              <a:t>Tofiq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Heydarov</a:t>
            </a:r>
            <a:r>
              <a:rPr dirty="0">
                <a:solidFill>
                  <a:schemeClr val="bg1"/>
                </a:solidFill>
              </a:rPr>
              <a:t>  |  </a:t>
            </a:r>
            <a:r>
              <a:rPr dirty="0" err="1">
                <a:solidFill>
                  <a:schemeClr val="bg1"/>
                </a:solidFill>
              </a:rPr>
              <a:t>Parvin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Salahov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868680"/>
            <a:ext cx="3931920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xplore_area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2708909"/>
            <a:ext cx="3621024" cy="13578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82127" y="5669280"/>
            <a:ext cx="34290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800" b="1" i="0">
                <a:solidFill>
                  <a:srgbClr val="646E74"/>
                </a:solidFill>
                <a:latin typeface="Aptos"/>
              </a:defRPr>
            </a:pPr>
            <a:r>
              <a:t>LISTING AREA AND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D2D8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01  /  DATA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Turning listings into model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499616"/>
            <a:ext cx="2240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46E74"/>
                </a:solidFill>
                <a:latin typeface="Aptos"/>
              </a:defRPr>
            </a:pPr>
            <a:r>
              <a:t>RAW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700784"/>
            <a:ext cx="22402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1D2B3A"/>
                </a:solidFill>
                <a:latin typeface="Aptos"/>
              </a:defRPr>
            </a:pPr>
            <a:r>
              <a:t>100,775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048256"/>
            <a:ext cx="22402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46E74"/>
                </a:solidFill>
                <a:latin typeface="Aptos"/>
              </a:defRPr>
            </a:pPr>
            <a:r>
              <a:t>before duplicate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89888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38144" y="1499616"/>
            <a:ext cx="2240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46E74"/>
                </a:solidFill>
                <a:latin typeface="Aptos"/>
              </a:defRPr>
            </a:pPr>
            <a:r>
              <a:t>ANALYTICAL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700784"/>
            <a:ext cx="22402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1D2B3A"/>
                </a:solidFill>
                <a:latin typeface="Aptos"/>
              </a:defRPr>
            </a:pPr>
            <a:r>
              <a:t>93,150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048256"/>
            <a:ext cx="22402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46E74"/>
                </a:solidFill>
                <a:latin typeface="Aptos"/>
              </a:defRPr>
            </a:pPr>
            <a:r>
              <a:t>after filtering and 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1888" y="1389888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08192" y="1499616"/>
            <a:ext cx="22402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46E74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700784"/>
            <a:ext cx="22402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1D2B3A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048256"/>
            <a:ext cx="22402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46E74"/>
                </a:solidFill>
                <a:latin typeface="Aptos"/>
              </a:defRPr>
            </a:pPr>
            <a:r>
              <a:t>after encoding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1936" y="1389888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1499616"/>
            <a:ext cx="25146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646E74"/>
                </a:solidFill>
                <a:latin typeface="Aptos"/>
              </a:defRPr>
            </a:pPr>
            <a:r>
              <a:t>MEDIAN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700784"/>
            <a:ext cx="25146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1D2B3A"/>
                </a:solidFill>
                <a:latin typeface="Aptos"/>
              </a:defRPr>
            </a:pPr>
            <a:r>
              <a:t>200,000 AZN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48256"/>
            <a:ext cx="25146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646E74"/>
                </a:solidFill>
                <a:latin typeface="Aptos"/>
              </a:defRPr>
            </a:pPr>
            <a:r>
              <a:t>training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2487168"/>
            <a:ext cx="50749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2706624"/>
            <a:ext cx="4389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WHAT WE DID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" y="3136391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" y="3035808"/>
            <a:ext cx="4379975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83036"/>
                </a:solidFill>
                <a:latin typeface="Aptos"/>
              </a:defRPr>
            </a:pPr>
            <a:r>
              <a:t>Handled duplicate listings; 100,773 rows remained.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3758184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9848" y="3657600"/>
            <a:ext cx="4379975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83036"/>
                </a:solidFill>
                <a:latin typeface="Aptos"/>
              </a:defRPr>
            </a:pPr>
            <a:r>
              <a:t>Prepared area, land area, floor, rooms, city and category features.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" y="4379976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4279392"/>
            <a:ext cx="4379975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83036"/>
                </a:solidFill>
                <a:latin typeface="Aptos"/>
              </a:defRPr>
            </a:pPr>
            <a:r>
              <a:t>Removed IDs, URLs, scrape-time fields and price-derived columns such as unit_price and total_price.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" y="5001768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4901183"/>
            <a:ext cx="4379975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283036"/>
                </a:solidFill>
                <a:latin typeface="Aptos"/>
              </a:defRPr>
            </a:pPr>
            <a:r>
              <a:t>Price was treated in source units (reported as AZN); no currency-conversion step is documented.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25312" y="2487168"/>
            <a:ext cx="54864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explore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881606"/>
            <a:ext cx="5047488" cy="1835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36208" y="4796028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/>
              <a:t>Log(area) vs log(price): 0.658   |   Rooms vs log(price): 0.400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513832"/>
            <a:ext cx="4846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646E74"/>
                </a:solidFill>
                <a:latin typeface="Aptos"/>
              </a:defRPr>
            </a:pPr>
            <a:r>
              <a:t>The log transform reduces the raw-price skew in the analyzed training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02  /  PROBLEM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Two tasks, one shared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17320"/>
            <a:ext cx="480060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664208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TASK A  / 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1605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1D2B3A"/>
                </a:solidFill>
                <a:latin typeface="Aptos"/>
              </a:defRPr>
            </a:pPr>
            <a:r>
              <a:t>Predict log(1 + price)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24328"/>
            <a:ext cx="41148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Metrics: RMSE | MAE | R-squared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584448"/>
            <a:ext cx="480060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3840480"/>
            <a:ext cx="42062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TASK B  / 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206240"/>
            <a:ext cx="41605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1D2B3A"/>
                </a:solidFill>
                <a:latin typeface="Aptos"/>
              </a:defRPr>
            </a:pPr>
            <a:r>
              <a:t>Premium vs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736592"/>
            <a:ext cx="4114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646E74"/>
                </a:solidFill>
                <a:latin typeface="Aptos"/>
              </a:defRPr>
            </a:pPr>
            <a:r>
              <a:t>Premium = above training-price 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047488"/>
            <a:ext cx="4160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Metrics: precision | recall | F1 | 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417320"/>
            <a:ext cx="5696712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61888" y="1664208"/>
            <a:ext cx="5074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SPLITS AND TIER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1984248"/>
            <a:ext cx="51206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D2B3A"/>
                </a:solidFill>
                <a:latin typeface="Aptos"/>
              </a:defRPr>
            </a:pPr>
            <a:r>
              <a:t>Train 62,922    Validation 15,114    Test 15,114</a:t>
            </a:r>
          </a:p>
        </p:txBody>
      </p:sp>
      <p:pic>
        <p:nvPicPr>
          <p:cNvPr id="20" name="Picture 19" descr="explore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96896"/>
            <a:ext cx="5074920" cy="202996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80176" y="4919472"/>
            <a:ext cx="5157216" cy="539496"/>
          </a:xfrm>
          <a:prstGeom prst="roundRect">
            <a:avLst>
              <a:gd name="adj" fmla="val 8000"/>
            </a:avLst>
          </a:prstGeom>
          <a:solidFill>
            <a:srgbClr val="EF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4892040"/>
            <a:ext cx="48920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/>
              <a:t>Premium share: 49.4% train | 54.1% validation | 54.2%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5715000"/>
            <a:ext cx="5074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0" i="1">
                <a:solidFill>
                  <a:srgbClr val="646E74"/>
                </a:solidFill>
                <a:latin typeface="Aptos"/>
              </a:defRPr>
            </a:pPr>
            <a:r>
              <a:t>The split used price quartile bins; it was not stratified directly on the tier label.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03  /  FROM-SCRATCH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Decision tree: choose splits that reduce impurity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37947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673352"/>
            <a:ext cx="3200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2148840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" y="2048256"/>
            <a:ext cx="3035808" cy="722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83036"/>
                </a:solidFill>
                <a:latin typeface="Aptos"/>
              </a:defRPr>
            </a:pPr>
            <a:r>
              <a:t>Recursive NumPy tree with numeric threshold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907792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" y="2807208"/>
            <a:ext cx="3035808" cy="722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83036"/>
                </a:solidFill>
                <a:latin typeface="Aptos"/>
              </a:defRPr>
            </a:pPr>
            <a:r>
              <a:t>Regression splits reduce variance / MSE; leaves predict the mean.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3666744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" y="3566160"/>
            <a:ext cx="3035808" cy="722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83036"/>
                </a:solidFill>
                <a:latin typeface="Aptos"/>
              </a:defRPr>
            </a:pPr>
            <a:r>
              <a:t>Classification splits use Gini or entropy; leaves report class frequencies.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4425696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" y="4325112"/>
            <a:ext cx="3035808" cy="722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83036"/>
                </a:solidFill>
                <a:latin typeface="Aptos"/>
              </a:defRPr>
            </a:pPr>
            <a:r>
              <a:t>Stopping controls: max depth, minimum split/leaf samples, and minimum impurity decrease.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5184648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" y="5084064"/>
            <a:ext cx="3035808" cy="7223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283036"/>
                </a:solidFill>
                <a:latin typeface="Aptos"/>
              </a:defRPr>
            </a:pPr>
            <a:r>
              <a:t>Tree hyperparameters chosen with validation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389888"/>
            <a:ext cx="6748272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tree_overfitting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39488"/>
            <a:ext cx="6309360" cy="22533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0" y="5623560"/>
            <a:ext cx="59893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1D2B3A"/>
                </a:solidFill>
                <a:latin typeface="Aptos"/>
              </a:defRPr>
            </a:pPr>
            <a:r>
              <a:t>At deep settings, training AUC approaches 1.00 while validation AUC falls: a clear overfitting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04  /  FROM-SCRATCH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Pegasos SVM: hinge loss plus random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41605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664208"/>
            <a:ext cx="3474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36118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J(w,b) = 0.5*lambda*||w||^2 + mean(max(0, 1 - y*f(x)))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" y="2980944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" y="2880360"/>
            <a:ext cx="331012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83036"/>
                </a:solidFill>
                <a:latin typeface="Aptos"/>
              </a:defRPr>
            </a:pPr>
            <a:r>
              <a:t>Stochastic sub-gradient updates; fixed random seed.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3694176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" y="3593591"/>
            <a:ext cx="331012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83036"/>
                </a:solidFill>
                <a:latin typeface="Aptos"/>
              </a:defRPr>
            </a:pPr>
            <a:r>
              <a:t>Inputs standardized from training statistics.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4407408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4306824"/>
            <a:ext cx="331012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283036"/>
                </a:solidFill>
                <a:latin typeface="Aptos"/>
              </a:defRPr>
            </a:pPr>
            <a:r>
              <a:t>256 Random Fourier Features approximate an RBF kernel.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120640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" y="5020056"/>
            <a:ext cx="3310128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200"/>
              <a:t>Best validation grid: lambda=1e-5, gamma=0.1 (F1=0.8469; AUC=0.9073). Margin = 2/||w|| in RFF space.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389888"/>
            <a:ext cx="6382512" cy="23408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vm_margin_v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81" y="1536192"/>
            <a:ext cx="3247948" cy="202996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029200" y="3959352"/>
            <a:ext cx="6382512" cy="23682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vm_objective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4087368"/>
            <a:ext cx="329184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05  /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Held-out results: trees are closely matched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16736"/>
            <a:ext cx="107899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646E74"/>
                </a:solidFill>
                <a:latin typeface="Aptos"/>
              </a:defRPr>
            </a:pPr>
            <a:r>
              <a:t>Test-set metrics from the full pipeline run (15,114 listings)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783080"/>
          <a:ext cx="10881360" cy="2655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406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Model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Task A RMSE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Task B accuracy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Task B F1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Task B ROC-AUC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Scratch decision tree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0.5036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0.9079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0.9131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0.9675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scikit-learn decision tree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0.5028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0.9078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0.9131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0.9674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406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Pegasos RFF (main run)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N/A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0.8511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0.8612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0.9282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408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scikit-learn SGD hinge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N/A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0.8478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0.8578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0.9198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4608576"/>
            <a:ext cx="10881360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enchmark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72" y="4700016"/>
            <a:ext cx="1728216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4882896"/>
            <a:ext cx="498348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D2B3A"/>
                </a:solidFill>
                <a:latin typeface="Aptos"/>
              </a:defRPr>
            </a:pPr>
            <a:r>
              <a:t>The scratch tree is within rounding distance of the sklearn tree on this split. Pegasos outperforms the linear SGD baseline on F1/AUC in this main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99632"/>
            <a:ext cx="106070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0" i="1">
                <a:solidFill>
                  <a:srgbClr val="646E74"/>
                </a:solidFill>
                <a:latin typeface="Aptos"/>
              </a:defRPr>
            </a:pPr>
            <a:r>
              <a:t>Separate SVM benchmark below uses train + validation for fitting after model selection; its results are reported on Slide 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06  /  COMPARISON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D2B3A"/>
                </a:solidFill>
                <a:latin typeface="Aptos"/>
              </a:defRPr>
            </a:pPr>
            <a:r>
              <a:t>Benchmark context and where errors remain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269" y="1181862"/>
            <a:ext cx="580644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325716"/>
            <a:ext cx="51206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rPr dirty="0"/>
              <a:t>SVM BENCHMARK  /  5-FOLD TASK B F1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983553"/>
              </p:ext>
            </p:extLst>
          </p:nvPr>
        </p:nvGraphicFramePr>
        <p:xfrm>
          <a:off x="873252" y="1537335"/>
          <a:ext cx="5129784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Model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F1 mean +/- std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ROC-AUC mean +/- std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Pegasos RFF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0.8397 +/- 0.0164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0.9223 +/- 0.0070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RBF SVC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0.8874 +/- 0.0052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0.9570 +/- 0.0030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SGD hinge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0.8297 +/- 0.0070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0.9022 +/- 0.0063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1169" y="4123944"/>
            <a:ext cx="512064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1D2B3A"/>
                </a:solidFill>
                <a:latin typeface="Aptos"/>
              </a:defRPr>
            </a:pPr>
            <a:r>
              <a:rPr dirty="0"/>
              <a:t>SVC performed best in this separate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9692" y="1199823"/>
            <a:ext cx="4736592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67728" y="1323596"/>
            <a:ext cx="4206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rPr dirty="0"/>
              <a:t>PEGASOS TEST CONFUSION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60773"/>
              </p:ext>
            </p:extLst>
          </p:nvPr>
        </p:nvGraphicFramePr>
        <p:xfrm>
          <a:off x="6944868" y="1642656"/>
          <a:ext cx="4206240" cy="206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7650"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Pred. standard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Pred. premium</a:t>
                      </a:r>
                    </a:p>
                  </a:txBody>
                  <a:tcPr marL="82296" marR="54864" marT="41148" marB="32004" anchor="ctr">
                    <a:solidFill>
                      <a:srgbClr val="1D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50"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Actual standard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5,989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939</a:t>
                      </a:r>
                    </a:p>
                  </a:txBody>
                  <a:tcPr marL="82296" marR="54864" marT="41148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50"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Actual premium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ptos"/>
                        </a:rPr>
                        <a:t>1,545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latin typeface="Aptos"/>
                        </a:rPr>
                        <a:t>6,641</a:t>
                      </a:r>
                    </a:p>
                  </a:txBody>
                  <a:tcPr marL="82296" marR="54864" marT="41148" marB="32004" anchor="ctr">
                    <a:solidFill>
                      <a:srgbClr val="EF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944868" y="4089654"/>
            <a:ext cx="4078224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1D2B3A"/>
                </a:solidFill>
                <a:latin typeface="Aptos"/>
              </a:defRPr>
            </a:pPr>
            <a:r>
              <a:rPr dirty="0" err="1"/>
              <a:t>Pegasos</a:t>
            </a:r>
            <a:r>
              <a:rPr dirty="0"/>
              <a:t> misses more premium listings than it falsely labels as premium.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553712"/>
            <a:ext cx="10789920" cy="1572768"/>
          </a:xfrm>
          <a:prstGeom prst="roundRect">
            <a:avLst>
              <a:gd name="adj" fmla="val 8000"/>
            </a:avLst>
          </a:prstGeom>
          <a:solidFill>
            <a:srgbClr val="EF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4773168"/>
            <a:ext cx="3200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LIMITATIONS TO DISCUSS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5184648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" y="5084064"/>
            <a:ext cx="9802367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83036"/>
                </a:solidFill>
                <a:latin typeface="Aptos"/>
              </a:defRPr>
            </a:pPr>
            <a:r>
              <a:t>Land and commercial listings have much higher regression errors than common apartment types.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5495544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6424" y="5394959"/>
            <a:ext cx="9802367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283036"/>
                </a:solidFill>
                <a:latin typeface="Aptos"/>
              </a:defRPr>
            </a:pPr>
            <a:r>
              <a:t>Sparse categories and regions have fewer examples; their scores are less stable.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5806440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" y="5705855"/>
            <a:ext cx="9802367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t>RFF approximates, but does not exactly reproduce, the RBF kernel.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900" b="1" i="0">
                <a:solidFill>
                  <a:srgbClr val="B75B3D"/>
                </a:solidFill>
                <a:latin typeface="Aptos"/>
              </a:defRPr>
            </a:pPr>
            <a:r>
              <a:t>07  /  TEAM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dirty="0"/>
              <a:t>What we learned - and what comes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82528" y="6565392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646E7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17320"/>
            <a:ext cx="53492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43891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B75B3D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452628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D2B3A"/>
                </a:solidFill>
                <a:latin typeface="Aptos"/>
              </a:defRPr>
            </a:pPr>
            <a:r>
              <a:rPr dirty="0" err="1"/>
              <a:t>Teymur</a:t>
            </a:r>
            <a:r>
              <a:rPr dirty="0"/>
              <a:t> </a:t>
            </a:r>
            <a:r>
              <a:rPr dirty="0" err="1" smtClean="0"/>
              <a:t>Alasgarov</a:t>
            </a:r>
            <a:r>
              <a:rPr lang="en-US" dirty="0" smtClean="0"/>
              <a:t> ~ 40 %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96112" y="2688336"/>
            <a:ext cx="452628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D2B3A"/>
                </a:solidFill>
                <a:latin typeface="Aptos"/>
              </a:defRPr>
            </a:pPr>
            <a:r>
              <a:rPr dirty="0" err="1"/>
              <a:t>Tofiq</a:t>
            </a:r>
            <a:r>
              <a:rPr dirty="0"/>
              <a:t> </a:t>
            </a:r>
            <a:r>
              <a:rPr dirty="0" err="1" smtClean="0"/>
              <a:t>Heydarov</a:t>
            </a:r>
            <a:r>
              <a:rPr lang="en-US" dirty="0"/>
              <a:t> </a:t>
            </a:r>
            <a:r>
              <a:rPr lang="en-US" dirty="0" smtClean="0"/>
              <a:t>~ 27%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96112" y="3255264"/>
            <a:ext cx="452628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D2B3A"/>
                </a:solidFill>
                <a:latin typeface="Aptos"/>
              </a:defRPr>
            </a:pPr>
            <a:r>
              <a:rPr dirty="0" err="1"/>
              <a:t>Parvin</a:t>
            </a:r>
            <a:r>
              <a:rPr dirty="0"/>
              <a:t> </a:t>
            </a:r>
            <a:r>
              <a:rPr dirty="0" err="1" smtClean="0"/>
              <a:t>Salahov</a:t>
            </a:r>
            <a:r>
              <a:rPr lang="en-US" dirty="0" smtClean="0"/>
              <a:t> ~ 33 %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96112" y="3904487"/>
            <a:ext cx="4736592" cy="13716"/>
          </a:xfrm>
          <a:prstGeom prst="rect">
            <a:avLst/>
          </a:prstGeom>
          <a:solidFill>
            <a:srgbClr val="DCD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148072" cy="4526280"/>
          </a:xfrm>
          <a:prstGeom prst="roundRect">
            <a:avLst>
              <a:gd name="adj" fmla="val 8000"/>
            </a:avLst>
          </a:prstGeom>
          <a:solidFill>
            <a:srgbClr val="1D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83680" y="2240279"/>
            <a:ext cx="82296" cy="82296"/>
          </a:xfrm>
          <a:prstGeom prst="roundRect">
            <a:avLst>
              <a:gd name="adj" fmla="val 8000"/>
            </a:avLst>
          </a:prstGeom>
          <a:solidFill>
            <a:srgbClr val="B7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5929" y="1607462"/>
            <a:ext cx="2547257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DEB097"/>
                </a:solidFill>
                <a:latin typeface="Aptos"/>
              </a:defRPr>
            </a:pPr>
            <a:r>
              <a:rPr sz="1100" dirty="0"/>
              <a:t>Main</a:t>
            </a:r>
            <a:r>
              <a:rPr sz="1050" dirty="0"/>
              <a:t>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8969" y="1920240"/>
            <a:ext cx="4389120" cy="3360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Our </a:t>
            </a:r>
            <a:r>
              <a:rPr lang="en-US" dirty="0">
                <a:solidFill>
                  <a:schemeClr val="bg1"/>
                </a:solidFill>
              </a:rPr>
              <a:t>from-scratch tree performed close to </a:t>
            </a:r>
            <a:r>
              <a:rPr lang="en-US" dirty="0" err="1">
                <a:solidFill>
                  <a:schemeClr val="bg1"/>
                </a:solidFill>
              </a:rPr>
              <a:t>scikit</a:t>
            </a:r>
            <a:r>
              <a:rPr lang="en-US" dirty="0">
                <a:solidFill>
                  <a:schemeClr val="bg1"/>
                </a:solidFill>
              </a:rPr>
              <a:t>-learn: Task B F1 was </a:t>
            </a:r>
            <a:r>
              <a:rPr lang="en-US" b="1" dirty="0">
                <a:solidFill>
                  <a:schemeClr val="bg1"/>
                </a:solidFill>
              </a:rPr>
              <a:t>0.9131</a:t>
            </a:r>
            <a:r>
              <a:rPr lang="en-US" dirty="0">
                <a:solidFill>
                  <a:schemeClr val="bg1"/>
                </a:solidFill>
              </a:rPr>
              <a:t>; Task A RMSE was </a:t>
            </a:r>
            <a:r>
              <a:rPr lang="en-US" b="1" dirty="0">
                <a:solidFill>
                  <a:schemeClr val="bg1"/>
                </a:solidFill>
              </a:rPr>
              <a:t>0.5036</a:t>
            </a:r>
            <a:r>
              <a:rPr lang="en-US" dirty="0">
                <a:solidFill>
                  <a:schemeClr val="bg1"/>
                </a:solidFill>
              </a:rPr>
              <a:t> versus </a:t>
            </a:r>
            <a:r>
              <a:rPr lang="en-US" b="1" dirty="0">
                <a:solidFill>
                  <a:schemeClr val="bg1"/>
                </a:solidFill>
              </a:rPr>
              <a:t>0.5026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 err="1">
                <a:solidFill>
                  <a:schemeClr val="bg1"/>
                </a:solidFill>
              </a:rPr>
              <a:t>Pegasos</a:t>
            </a:r>
            <a:r>
              <a:rPr lang="en-US" dirty="0">
                <a:solidFill>
                  <a:schemeClr val="bg1"/>
                </a:solidFill>
              </a:rPr>
              <a:t> with Random Fourier Features outperformed the linear SGD baseline, while the exact RBF SVC achieved higher scores.</a:t>
            </a:r>
          </a:p>
          <a:p>
            <a:r>
              <a:rPr lang="en-US" b="1" dirty="0">
                <a:solidFill>
                  <a:schemeClr val="bg1"/>
                </a:solidFill>
              </a:rPr>
              <a:t>What comes next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Explore whether more Random Fourier Features improve the SVM’s accuracy.</a:t>
            </a:r>
          </a:p>
          <a:p>
            <a:r>
              <a:rPr lang="en-US" dirty="0">
                <a:solidFill>
                  <a:schemeClr val="bg1"/>
                </a:solidFill>
              </a:rPr>
              <a:t>Add more data or location features to better handle rare property types and districts.</a:t>
            </a:r>
          </a:p>
          <a:p>
            <a:r>
              <a:rPr lang="en-US" b="1" dirty="0">
                <a:solidFill>
                  <a:schemeClr val="accent2"/>
                </a:solidFill>
              </a:rPr>
              <a:t>Thank you — Questions?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714</Words>
  <Application>Microsoft Office PowerPoint</Application>
  <PresentationFormat>Widescreen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Property Prices and Price Tiers on bina.az</dc:title>
  <dc:subject>Machine Learning Final Project ? from-scratch decision tree and Pegasos SVM</dc:subject>
  <dc:creator>Teymur Alasgarov; Tofiq Heydarov; Parvin Salahov</dc:creator>
  <cp:keywords>bina.az, decision tree, Pegasos, SVM, RFF, machine learning</cp:keywords>
  <dc:description>generated using python-pptx</dc:description>
  <cp:lastModifiedBy>HUAWEI</cp:lastModifiedBy>
  <cp:revision>5</cp:revision>
  <dcterms:created xsi:type="dcterms:W3CDTF">2013-01-27T09:14:16Z</dcterms:created>
  <dcterms:modified xsi:type="dcterms:W3CDTF">2026-10-17T10:51:44Z</dcterms:modified>
  <cp:category/>
</cp:coreProperties>
</file>